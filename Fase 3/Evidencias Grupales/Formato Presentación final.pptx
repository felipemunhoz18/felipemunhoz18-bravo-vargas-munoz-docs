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" charset="1" panose="00000500000000000000"/>
      <p:regular r:id="rId22"/>
    </p:embeddedFont>
    <p:embeddedFont>
      <p:font typeface="Montserrat Heavy" charset="1" panose="00000A00000000000000"/>
      <p:regular r:id="rId23"/>
    </p:embeddedFont>
    <p:embeddedFont>
      <p:font typeface="Montserrat Bold" charset="1" panose="00000800000000000000"/>
      <p:regular r:id="rId24"/>
    </p:embeddedFont>
    <p:embeddedFont>
      <p:font typeface="Open Sans" charset="1" panose="020B0606030504020204"/>
      <p:regular r:id="rId25"/>
    </p:embeddedFont>
    <p:embeddedFont>
      <p:font typeface="Poppins" charset="1" panose="00000500000000000000"/>
      <p:regular r:id="rId26"/>
    </p:embeddedFont>
    <p:embeddedFont>
      <p:font typeface="Poppins Semi-Bold" charset="1" panose="00000700000000000000"/>
      <p:regular r:id="rId27"/>
    </p:embeddedFont>
    <p:embeddedFont>
      <p:font typeface="Poppins Bold" charset="1" panose="00000800000000000000"/>
      <p:regular r:id="rId28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14" Target="../media/image20.jpe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14" Target="../media/image31.jpe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9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6249" t="0" r="-624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7819" y="4386224"/>
            <a:ext cx="9005704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Inclushop S.A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064" y="1887813"/>
            <a:ext cx="11407838" cy="172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  <a:spcBef>
                <a:spcPct val="0"/>
              </a:spcBef>
            </a:pPr>
            <a:r>
              <a:rPr lang="en-US" b="true" sz="4949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Inclushop : Herramientas para un E-commerce inclusivo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39316" y="-1907726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9" y="0"/>
                </a:lnTo>
                <a:lnTo>
                  <a:pt x="3718269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8073" y="-104775"/>
            <a:ext cx="10711854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 DEL PROYECTO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550949" y="1753163"/>
            <a:ext cx="2188498" cy="2532524"/>
            <a:chOff x="0" y="0"/>
            <a:chExt cx="812800" cy="9405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940570"/>
            </a:xfrm>
            <a:custGeom>
              <a:avLst/>
              <a:gdLst/>
              <a:ahLst/>
              <a:cxnLst/>
              <a:rect r="r" b="b" t="t" l="l"/>
              <a:pathLst>
                <a:path h="940570" w="812800">
                  <a:moveTo>
                    <a:pt x="406400" y="0"/>
                  </a:moveTo>
                  <a:cubicBezTo>
                    <a:pt x="181951" y="0"/>
                    <a:pt x="0" y="210554"/>
                    <a:pt x="0" y="470285"/>
                  </a:cubicBezTo>
                  <a:cubicBezTo>
                    <a:pt x="0" y="730016"/>
                    <a:pt x="181951" y="940570"/>
                    <a:pt x="406400" y="940570"/>
                  </a:cubicBezTo>
                  <a:cubicBezTo>
                    <a:pt x="630849" y="940570"/>
                    <a:pt x="812800" y="730016"/>
                    <a:pt x="812800" y="470285"/>
                  </a:cubicBezTo>
                  <a:cubicBezTo>
                    <a:pt x="812800" y="210554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579" r="0" b="-2157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79511" y="4431896"/>
            <a:ext cx="2188498" cy="2427164"/>
            <a:chOff x="0" y="0"/>
            <a:chExt cx="812800" cy="9014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01439"/>
            </a:xfrm>
            <a:custGeom>
              <a:avLst/>
              <a:gdLst/>
              <a:ahLst/>
              <a:cxnLst/>
              <a:rect r="r" b="b" t="t" l="l"/>
              <a:pathLst>
                <a:path h="901439" w="812800">
                  <a:moveTo>
                    <a:pt x="406400" y="0"/>
                  </a:moveTo>
                  <a:cubicBezTo>
                    <a:pt x="181951" y="0"/>
                    <a:pt x="0" y="201794"/>
                    <a:pt x="0" y="450720"/>
                  </a:cubicBezTo>
                  <a:cubicBezTo>
                    <a:pt x="0" y="699645"/>
                    <a:pt x="181951" y="901439"/>
                    <a:pt x="406400" y="901439"/>
                  </a:cubicBezTo>
                  <a:cubicBezTo>
                    <a:pt x="630849" y="901439"/>
                    <a:pt x="812800" y="699645"/>
                    <a:pt x="812800" y="450720"/>
                  </a:cubicBezTo>
                  <a:cubicBezTo>
                    <a:pt x="812800" y="201794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0245" r="0" b="-3024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79511" y="7083874"/>
            <a:ext cx="2331373" cy="2598073"/>
            <a:chOff x="0" y="0"/>
            <a:chExt cx="812800" cy="9057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05781"/>
            </a:xfrm>
            <a:custGeom>
              <a:avLst/>
              <a:gdLst/>
              <a:ahLst/>
              <a:cxnLst/>
              <a:rect r="r" b="b" t="t" l="l"/>
              <a:pathLst>
                <a:path h="905781" w="812800">
                  <a:moveTo>
                    <a:pt x="406400" y="0"/>
                  </a:moveTo>
                  <a:cubicBezTo>
                    <a:pt x="181951" y="0"/>
                    <a:pt x="0" y="202766"/>
                    <a:pt x="0" y="452891"/>
                  </a:cubicBezTo>
                  <a:cubicBezTo>
                    <a:pt x="0" y="703015"/>
                    <a:pt x="181951" y="905781"/>
                    <a:pt x="406400" y="905781"/>
                  </a:cubicBezTo>
                  <a:cubicBezTo>
                    <a:pt x="630849" y="905781"/>
                    <a:pt x="812800" y="703015"/>
                    <a:pt x="812800" y="452891"/>
                  </a:cubicBezTo>
                  <a:cubicBezTo>
                    <a:pt x="812800" y="202766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7423" r="0" b="-1742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543955" y="2393501"/>
            <a:ext cx="9761782" cy="197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•Benjamín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nd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Riva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neira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•Líder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 proyec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y programado .js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•Ten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los documen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y programar validaciones en .js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43955" y="4635279"/>
            <a:ext cx="9761782" cy="197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•Benjamín Ig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nacio Var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Díaz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de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base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ll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lla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y levanta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ento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en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nube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826242" y="6874752"/>
            <a:ext cx="9761782" cy="247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•Felipe Te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odoro Muñoz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ález 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•Product Owner e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niero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teracción por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Voz.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•Coor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nu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evas funcionalidade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s,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Implementar sist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emas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na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vegación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828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sivos.</a:t>
            </a:r>
          </a:p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37394" y="5975252"/>
            <a:ext cx="4339320" cy="5075228"/>
          </a:xfrm>
          <a:custGeom>
            <a:avLst/>
            <a:gdLst/>
            <a:ahLst/>
            <a:cxnLst/>
            <a:rect r="r" b="b" t="t" l="l"/>
            <a:pathLst>
              <a:path h="5075228" w="4339320">
                <a:moveTo>
                  <a:pt x="4339320" y="0"/>
                </a:moveTo>
                <a:lnTo>
                  <a:pt x="0" y="0"/>
                </a:lnTo>
                <a:lnTo>
                  <a:pt x="0" y="5075228"/>
                </a:lnTo>
                <a:lnTo>
                  <a:pt x="4339320" y="5075228"/>
                </a:lnTo>
                <a:lnTo>
                  <a:pt x="433932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1901" y="3386694"/>
            <a:ext cx="10711854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5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3544" y="5169783"/>
            <a:ext cx="7423864" cy="152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vision is to lead the way in digital transformation, empowering businesses to achieve more through technology. We believe in innovation, sustainability, and creating solutions that shape the future.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2908863" y="-316137"/>
            <a:ext cx="5379137" cy="6291388"/>
          </a:xfrm>
          <a:custGeom>
            <a:avLst/>
            <a:gdLst/>
            <a:ahLst/>
            <a:cxnLst/>
            <a:rect r="r" b="b" t="t" l="l"/>
            <a:pathLst>
              <a:path h="6291388" w="5379137">
                <a:moveTo>
                  <a:pt x="0" y="6291389"/>
                </a:moveTo>
                <a:lnTo>
                  <a:pt x="5379137" y="6291389"/>
                </a:lnTo>
                <a:lnTo>
                  <a:pt x="5379137" y="0"/>
                </a:lnTo>
                <a:lnTo>
                  <a:pt x="0" y="0"/>
                </a:lnTo>
                <a:lnTo>
                  <a:pt x="0" y="6291389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35656" y="0"/>
            <a:ext cx="6121907" cy="10287000"/>
            <a:chOff x="0" y="0"/>
            <a:chExt cx="1612354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23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12354">
                  <a:moveTo>
                    <a:pt x="0" y="0"/>
                  </a:moveTo>
                  <a:lnTo>
                    <a:pt x="1612354" y="0"/>
                  </a:lnTo>
                  <a:lnTo>
                    <a:pt x="16123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612354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-1044163" y="-655087"/>
            <a:ext cx="5379137" cy="6291388"/>
          </a:xfrm>
          <a:custGeom>
            <a:avLst/>
            <a:gdLst/>
            <a:ahLst/>
            <a:cxnLst/>
            <a:rect r="r" b="b" t="t" l="l"/>
            <a:pathLst>
              <a:path h="6291388" w="5379137">
                <a:moveTo>
                  <a:pt x="5379137" y="6291388"/>
                </a:moveTo>
                <a:lnTo>
                  <a:pt x="0" y="6291388"/>
                </a:lnTo>
                <a:lnTo>
                  <a:pt x="0" y="0"/>
                </a:lnTo>
                <a:lnTo>
                  <a:pt x="5379137" y="0"/>
                </a:lnTo>
                <a:lnTo>
                  <a:pt x="5379137" y="6291388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947894" y="2829558"/>
            <a:ext cx="4897431" cy="5572196"/>
            <a:chOff x="0" y="0"/>
            <a:chExt cx="1671412" cy="19016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1412" cy="1901698"/>
            </a:xfrm>
            <a:custGeom>
              <a:avLst/>
              <a:gdLst/>
              <a:ahLst/>
              <a:cxnLst/>
              <a:rect r="r" b="b" t="t" l="l"/>
              <a:pathLst>
                <a:path h="1901698" w="1671412">
                  <a:moveTo>
                    <a:pt x="0" y="0"/>
                  </a:moveTo>
                  <a:lnTo>
                    <a:pt x="1671412" y="0"/>
                  </a:lnTo>
                  <a:lnTo>
                    <a:pt x="1671412" y="1901698"/>
                  </a:lnTo>
                  <a:lnTo>
                    <a:pt x="0" y="1901698"/>
                  </a:lnTo>
                  <a:close/>
                </a:path>
              </a:pathLst>
            </a:custGeom>
            <a:blipFill>
              <a:blip r:embed="rId6"/>
              <a:stretch>
                <a:fillRect l="-35333" t="0" r="-3533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3658" y="4916256"/>
            <a:ext cx="1202833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5182E"/>
                </a:solidFill>
                <a:latin typeface="Poppins"/>
                <a:ea typeface="Poppins"/>
                <a:cs typeface="Poppins"/>
                <a:sym typeface="Poppins"/>
              </a:rPr>
              <a:t>El proyecto busca desarrollar una plataforma de comercio electrónico inclusiva, que permita a personas con discapacidad visual o dificultades motrices navegar y comprar productos usando comandos de voz y narración automática. Además, contará con un asistente virtual para guiar el proceso de compra.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3223" y="1237512"/>
            <a:ext cx="7578436" cy="128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3"/>
              </a:lnSpc>
              <a:spcBef>
                <a:spcPct val="0"/>
              </a:spcBef>
            </a:pPr>
            <a:r>
              <a:rPr lang="en-US" sz="71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9134" y="3909468"/>
            <a:ext cx="15305738" cy="237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  <a:spcBef>
                <a:spcPct val="0"/>
              </a:spcBef>
            </a:pPr>
            <a:r>
              <a:rPr lang="en-US" sz="3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Permitir q</a:t>
            </a:r>
            <a:r>
              <a:rPr lang="en-US" sz="3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ue una persona, independientemente de si presenta discapacidad auditiva, visual o motora, pueda realizar de manera autónoma una compra online, específicamente durante el proceso de navegación del sitio.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9134" y="3526238"/>
            <a:ext cx="15305738" cy="473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  <a:spcBef>
                <a:spcPct val="0"/>
              </a:spcBef>
            </a:pPr>
            <a:r>
              <a:rPr lang="en-US" sz="3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1- Permitir a una persona con discapacidad motora navegar mediante comandos de voz.</a:t>
            </a:r>
          </a:p>
          <a:p>
            <a:pPr algn="ctr">
              <a:lnSpc>
                <a:spcPts val="4664"/>
              </a:lnSpc>
              <a:spcBef>
                <a:spcPct val="0"/>
              </a:spcBef>
            </a:pPr>
            <a:r>
              <a:rPr lang="en-US" sz="3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 Permitir a una persona con discapacidad visual del -15%  implementando una lupa para aumentar visualmente la zona donde se ubica el cursor. </a:t>
            </a:r>
          </a:p>
          <a:p>
            <a:pPr algn="ctr">
              <a:lnSpc>
                <a:spcPts val="4664"/>
              </a:lnSpc>
              <a:spcBef>
                <a:spcPct val="0"/>
              </a:spcBef>
            </a:pPr>
            <a:r>
              <a:rPr lang="en-US" sz="3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3- Permitir que una persona sorda pueda navegar con totalidad en pantalla con apoyo visual claro e interactivo.</a:t>
            </a:r>
          </a:p>
          <a:p>
            <a:pPr algn="ctr">
              <a:lnSpc>
                <a:spcPts val="466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152153" y="1237512"/>
            <a:ext cx="9482462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6"/>
              </a:lnSpc>
              <a:spcBef>
                <a:spcPct val="0"/>
              </a:spcBef>
            </a:pPr>
            <a:r>
              <a:rPr lang="en-US" sz="7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8606" y="1237512"/>
            <a:ext cx="10110788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6"/>
              </a:lnSpc>
              <a:spcBef>
                <a:spcPct val="0"/>
              </a:spcBef>
            </a:pPr>
            <a:r>
              <a:rPr lang="en-US" sz="7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Alcances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9134" y="3731791"/>
            <a:ext cx="15305738" cy="414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alcance del proyecto se mide dentro de los 3 pilares en los que nos centramos los cuales son la usabilidad, la accesibilidad y la intuitividad.  Lo anteriormente mencionado se encuentra englobado en la I.S.O 9241 cada uno de los soportes centrales mencionados se encuentran representados en usuarios con las discapacidades anteriormente mencionadas.</a:t>
            </a:r>
          </a:p>
          <a:p>
            <a:pPr algn="ctr">
              <a:lnSpc>
                <a:spcPts val="46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12656" y="1237512"/>
            <a:ext cx="11462689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6"/>
              </a:lnSpc>
              <a:spcBef>
                <a:spcPct val="0"/>
              </a:spcBef>
            </a:pPr>
            <a:r>
              <a:rPr lang="en-US" sz="7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limitaciones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0655" y="3692098"/>
            <a:ext cx="15138645" cy="23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cuanto a las limitaciones observadas a lo largo del proyecto se encuentra su compatibilidad con los distintos navegadores.</a:t>
            </a:r>
          </a:p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Además de la necesidad constante de actualizaciones debido a cambios dinámicos en las paginas en las que interactúa el plug-in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089" y="97734"/>
            <a:ext cx="20966147" cy="207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 para el desarrollo del proyecto</a:t>
            </a:r>
          </a:p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43656" y="1447062"/>
            <a:ext cx="7800688" cy="8454940"/>
          </a:xfrm>
          <a:custGeom>
            <a:avLst/>
            <a:gdLst/>
            <a:ahLst/>
            <a:cxnLst/>
            <a:rect r="r" b="b" t="t" l="l"/>
            <a:pathLst>
              <a:path h="8454940" w="7800688">
                <a:moveTo>
                  <a:pt x="0" y="0"/>
                </a:moveTo>
                <a:lnTo>
                  <a:pt x="7800688" y="0"/>
                </a:lnTo>
                <a:lnTo>
                  <a:pt x="7800688" y="8454940"/>
                </a:lnTo>
                <a:lnTo>
                  <a:pt x="0" y="845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3257" y="7135829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9" y="0"/>
                </a:lnTo>
                <a:lnTo>
                  <a:pt x="3718269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3526" y="-675409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9" y="0"/>
                </a:lnTo>
                <a:lnTo>
                  <a:pt x="3718269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44955" y="886096"/>
            <a:ext cx="6026725" cy="9400904"/>
          </a:xfrm>
          <a:custGeom>
            <a:avLst/>
            <a:gdLst/>
            <a:ahLst/>
            <a:cxnLst/>
            <a:rect r="r" b="b" t="t" l="l"/>
            <a:pathLst>
              <a:path h="9400904" w="6026725">
                <a:moveTo>
                  <a:pt x="0" y="0"/>
                </a:moveTo>
                <a:lnTo>
                  <a:pt x="6026725" y="0"/>
                </a:lnTo>
                <a:lnTo>
                  <a:pt x="6026725" y="9400904"/>
                </a:lnTo>
                <a:lnTo>
                  <a:pt x="0" y="9400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7" t="0" r="-6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5755" y="-104775"/>
            <a:ext cx="10705124" cy="207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sz="5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rquitectura del software</a:t>
            </a:r>
          </a:p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8473" y="2540988"/>
            <a:ext cx="931208" cy="931208"/>
            <a:chOff x="0" y="0"/>
            <a:chExt cx="172260" cy="172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0" y="0"/>
                  </a:moveTo>
                  <a:lnTo>
                    <a:pt x="172260" y="0"/>
                  </a:lnTo>
                  <a:lnTo>
                    <a:pt x="172260" y="172260"/>
                  </a:lnTo>
                  <a:lnTo>
                    <a:pt x="0" y="172260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2260" cy="238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8473" y="4179053"/>
            <a:ext cx="931208" cy="931208"/>
            <a:chOff x="0" y="0"/>
            <a:chExt cx="172260" cy="172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0" y="0"/>
                  </a:moveTo>
                  <a:lnTo>
                    <a:pt x="172260" y="0"/>
                  </a:lnTo>
                  <a:lnTo>
                    <a:pt x="172260" y="172260"/>
                  </a:lnTo>
                  <a:lnTo>
                    <a:pt x="0" y="172260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2260" cy="238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8473" y="5817118"/>
            <a:ext cx="931208" cy="931208"/>
            <a:chOff x="0" y="0"/>
            <a:chExt cx="172260" cy="172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0" y="0"/>
                  </a:moveTo>
                  <a:lnTo>
                    <a:pt x="172260" y="0"/>
                  </a:lnTo>
                  <a:lnTo>
                    <a:pt x="172260" y="172260"/>
                  </a:lnTo>
                  <a:lnTo>
                    <a:pt x="0" y="172260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72260" cy="238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8473" y="7453514"/>
            <a:ext cx="931208" cy="931208"/>
            <a:chOff x="0" y="0"/>
            <a:chExt cx="172260" cy="172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0" y="0"/>
                  </a:moveTo>
                  <a:lnTo>
                    <a:pt x="172260" y="0"/>
                  </a:lnTo>
                  <a:lnTo>
                    <a:pt x="172260" y="172260"/>
                  </a:lnTo>
                  <a:lnTo>
                    <a:pt x="0" y="172260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72260" cy="238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14631452" y="-1020273"/>
            <a:ext cx="3723128" cy="4354536"/>
          </a:xfrm>
          <a:custGeom>
            <a:avLst/>
            <a:gdLst/>
            <a:ahLst/>
            <a:cxnLst/>
            <a:rect r="r" b="b" t="t" l="l"/>
            <a:pathLst>
              <a:path h="4354536" w="3723128">
                <a:moveTo>
                  <a:pt x="0" y="4354536"/>
                </a:moveTo>
                <a:lnTo>
                  <a:pt x="3723128" y="4354536"/>
                </a:lnTo>
                <a:lnTo>
                  <a:pt x="3723128" y="0"/>
                </a:lnTo>
                <a:lnTo>
                  <a:pt x="0" y="0"/>
                </a:lnTo>
                <a:lnTo>
                  <a:pt x="0" y="4354536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6008" y="2768524"/>
            <a:ext cx="476137" cy="476137"/>
          </a:xfrm>
          <a:custGeom>
            <a:avLst/>
            <a:gdLst/>
            <a:ahLst/>
            <a:cxnLst/>
            <a:rect r="r" b="b" t="t" l="l"/>
            <a:pathLst>
              <a:path h="476137" w="476137">
                <a:moveTo>
                  <a:pt x="0" y="0"/>
                </a:moveTo>
                <a:lnTo>
                  <a:pt x="476137" y="0"/>
                </a:lnTo>
                <a:lnTo>
                  <a:pt x="476137" y="476137"/>
                </a:lnTo>
                <a:lnTo>
                  <a:pt x="0" y="476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5422" y="4402168"/>
            <a:ext cx="517311" cy="484979"/>
          </a:xfrm>
          <a:custGeom>
            <a:avLst/>
            <a:gdLst/>
            <a:ahLst/>
            <a:cxnLst/>
            <a:rect r="r" b="b" t="t" l="l"/>
            <a:pathLst>
              <a:path h="484979" w="517311">
                <a:moveTo>
                  <a:pt x="0" y="0"/>
                </a:moveTo>
                <a:lnTo>
                  <a:pt x="517310" y="0"/>
                </a:lnTo>
                <a:lnTo>
                  <a:pt x="517310" y="484979"/>
                </a:lnTo>
                <a:lnTo>
                  <a:pt x="0" y="484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2630" y="7704540"/>
            <a:ext cx="582893" cy="429155"/>
          </a:xfrm>
          <a:custGeom>
            <a:avLst/>
            <a:gdLst/>
            <a:ahLst/>
            <a:cxnLst/>
            <a:rect r="r" b="b" t="t" l="l"/>
            <a:pathLst>
              <a:path h="429155" w="582893">
                <a:moveTo>
                  <a:pt x="0" y="0"/>
                </a:moveTo>
                <a:lnTo>
                  <a:pt x="582893" y="0"/>
                </a:lnTo>
                <a:lnTo>
                  <a:pt x="582893" y="429155"/>
                </a:lnTo>
                <a:lnTo>
                  <a:pt x="0" y="4291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1991" y="6049981"/>
            <a:ext cx="424172" cy="465484"/>
          </a:xfrm>
          <a:custGeom>
            <a:avLst/>
            <a:gdLst/>
            <a:ahLst/>
            <a:cxnLst/>
            <a:rect r="r" b="b" t="t" l="l"/>
            <a:pathLst>
              <a:path h="465484" w="424172">
                <a:moveTo>
                  <a:pt x="0" y="0"/>
                </a:moveTo>
                <a:lnTo>
                  <a:pt x="424172" y="0"/>
                </a:lnTo>
                <a:lnTo>
                  <a:pt x="424172" y="465483"/>
                </a:lnTo>
                <a:lnTo>
                  <a:pt x="0" y="465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295279" y="0"/>
            <a:ext cx="9059302" cy="10287000"/>
            <a:chOff x="0" y="0"/>
            <a:chExt cx="2385989" cy="27093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85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85989">
                  <a:moveTo>
                    <a:pt x="0" y="0"/>
                  </a:moveTo>
                  <a:lnTo>
                    <a:pt x="2385989" y="0"/>
                  </a:lnTo>
                  <a:lnTo>
                    <a:pt x="2385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385989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true" flipV="false" rot="0">
            <a:off x="9295279" y="7117521"/>
            <a:ext cx="2709904" cy="3169479"/>
          </a:xfrm>
          <a:custGeom>
            <a:avLst/>
            <a:gdLst/>
            <a:ahLst/>
            <a:cxnLst/>
            <a:rect r="r" b="b" t="t" l="l"/>
            <a:pathLst>
              <a:path h="3169479" w="2709904">
                <a:moveTo>
                  <a:pt x="2709904" y="0"/>
                </a:moveTo>
                <a:lnTo>
                  <a:pt x="0" y="0"/>
                </a:lnTo>
                <a:lnTo>
                  <a:pt x="0" y="3169479"/>
                </a:lnTo>
                <a:lnTo>
                  <a:pt x="2709904" y="3169479"/>
                </a:lnTo>
                <a:lnTo>
                  <a:pt x="2709904" y="0"/>
                </a:lnTo>
                <a:close/>
              </a:path>
            </a:pathLst>
          </a:custGeom>
          <a:blipFill>
            <a:blip r:embed="rId12">
              <a:alphaModFix amt="1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374000" y="1916697"/>
            <a:ext cx="6901859" cy="7431827"/>
            <a:chOff x="0" y="0"/>
            <a:chExt cx="1640618" cy="17665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0618" cy="1766595"/>
            </a:xfrm>
            <a:custGeom>
              <a:avLst/>
              <a:gdLst/>
              <a:ahLst/>
              <a:cxnLst/>
              <a:rect r="r" b="b" t="t" l="l"/>
              <a:pathLst>
                <a:path h="1766595" w="1640618">
                  <a:moveTo>
                    <a:pt x="0" y="0"/>
                  </a:moveTo>
                  <a:lnTo>
                    <a:pt x="1640618" y="0"/>
                  </a:lnTo>
                  <a:lnTo>
                    <a:pt x="1640618" y="1766595"/>
                  </a:lnTo>
                  <a:lnTo>
                    <a:pt x="0" y="1766595"/>
                  </a:lnTo>
                  <a:close/>
                </a:path>
              </a:pathLst>
            </a:custGeom>
            <a:blipFill>
              <a:blip r:embed="rId14"/>
              <a:stretch>
                <a:fillRect l="-12626" t="0" r="-12626" b="-1603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88473" y="9089572"/>
            <a:ext cx="931208" cy="931208"/>
            <a:chOff x="0" y="0"/>
            <a:chExt cx="172260" cy="1722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0" y="0"/>
                  </a:moveTo>
                  <a:lnTo>
                    <a:pt x="172260" y="0"/>
                  </a:lnTo>
                  <a:lnTo>
                    <a:pt x="172260" y="172260"/>
                  </a:lnTo>
                  <a:lnTo>
                    <a:pt x="0" y="172260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72260" cy="238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415022" y="9348523"/>
            <a:ext cx="523172" cy="413306"/>
          </a:xfrm>
          <a:custGeom>
            <a:avLst/>
            <a:gdLst/>
            <a:ahLst/>
            <a:cxnLst/>
            <a:rect r="r" b="b" t="t" l="l"/>
            <a:pathLst>
              <a:path h="413306" w="523172">
                <a:moveTo>
                  <a:pt x="0" y="0"/>
                </a:moveTo>
                <a:lnTo>
                  <a:pt x="523172" y="0"/>
                </a:lnTo>
                <a:lnTo>
                  <a:pt x="523172" y="413306"/>
                </a:lnTo>
                <a:lnTo>
                  <a:pt x="0" y="413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60494" y="2682799"/>
            <a:ext cx="4671699" cy="51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05182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HTML 5, CSS, JS y PYTHON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38879" y="4316443"/>
            <a:ext cx="2285572" cy="51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05182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My SQL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38879" y="5921452"/>
            <a:ext cx="3111487" cy="51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05182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DJANGO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1313584"/>
            <a:ext cx="9057154" cy="10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 Utilizadas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38879" y="7618815"/>
            <a:ext cx="3111487" cy="51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05182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GIT HUP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85133" y="9219831"/>
            <a:ext cx="5994964" cy="51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05182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OVHCloud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425" y="2021726"/>
            <a:ext cx="1322954" cy="1322954"/>
            <a:chOff x="0" y="0"/>
            <a:chExt cx="294572" cy="2945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72" cy="294572"/>
            </a:xfrm>
            <a:custGeom>
              <a:avLst/>
              <a:gdLst/>
              <a:ahLst/>
              <a:cxnLst/>
              <a:rect r="r" b="b" t="t" l="l"/>
              <a:pathLst>
                <a:path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94572" cy="361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5425" y="6191617"/>
            <a:ext cx="1322954" cy="1322954"/>
            <a:chOff x="0" y="0"/>
            <a:chExt cx="294572" cy="2945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572" cy="294572"/>
            </a:xfrm>
            <a:custGeom>
              <a:avLst/>
              <a:gdLst/>
              <a:ahLst/>
              <a:cxnLst/>
              <a:rect r="r" b="b" t="t" l="l"/>
              <a:pathLst>
                <a:path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94572" cy="361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3166" y="8084482"/>
            <a:ext cx="1322954" cy="1322954"/>
            <a:chOff x="0" y="0"/>
            <a:chExt cx="294572" cy="294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572" cy="294572"/>
            </a:xfrm>
            <a:custGeom>
              <a:avLst/>
              <a:gdLst/>
              <a:ahLst/>
              <a:cxnLst/>
              <a:rect r="r" b="b" t="t" l="l"/>
              <a:pathLst>
                <a:path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94572" cy="361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5425" y="4042758"/>
            <a:ext cx="1322954" cy="1322954"/>
            <a:chOff x="0" y="0"/>
            <a:chExt cx="294572" cy="294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4572" cy="294572"/>
            </a:xfrm>
            <a:custGeom>
              <a:avLst/>
              <a:gdLst/>
              <a:ahLst/>
              <a:cxnLst/>
              <a:rect r="r" b="b" t="t" l="l"/>
              <a:pathLst>
                <a:path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94572" cy="361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04592" y="2353375"/>
            <a:ext cx="584621" cy="659657"/>
          </a:xfrm>
          <a:custGeom>
            <a:avLst/>
            <a:gdLst/>
            <a:ahLst/>
            <a:cxnLst/>
            <a:rect r="r" b="b" t="t" l="l"/>
            <a:pathLst>
              <a:path h="659657" w="584621">
                <a:moveTo>
                  <a:pt x="0" y="0"/>
                </a:moveTo>
                <a:lnTo>
                  <a:pt x="584621" y="0"/>
                </a:lnTo>
                <a:lnTo>
                  <a:pt x="584621" y="659657"/>
                </a:lnTo>
                <a:lnTo>
                  <a:pt x="0" y="6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7870" y="4315423"/>
            <a:ext cx="658065" cy="777625"/>
          </a:xfrm>
          <a:custGeom>
            <a:avLst/>
            <a:gdLst/>
            <a:ahLst/>
            <a:cxnLst/>
            <a:rect r="r" b="b" t="t" l="l"/>
            <a:pathLst>
              <a:path h="777625" w="658065">
                <a:moveTo>
                  <a:pt x="0" y="0"/>
                </a:moveTo>
                <a:lnTo>
                  <a:pt x="658065" y="0"/>
                </a:lnTo>
                <a:lnTo>
                  <a:pt x="658065" y="777625"/>
                </a:lnTo>
                <a:lnTo>
                  <a:pt x="0" y="77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4933" y="6511126"/>
            <a:ext cx="683938" cy="683938"/>
          </a:xfrm>
          <a:custGeom>
            <a:avLst/>
            <a:gdLst/>
            <a:ahLst/>
            <a:cxnLst/>
            <a:rect r="r" b="b" t="t" l="l"/>
            <a:pathLst>
              <a:path h="683938" w="683938">
                <a:moveTo>
                  <a:pt x="0" y="0"/>
                </a:moveTo>
                <a:lnTo>
                  <a:pt x="683938" y="0"/>
                </a:lnTo>
                <a:lnTo>
                  <a:pt x="683938" y="683938"/>
                </a:lnTo>
                <a:lnTo>
                  <a:pt x="0" y="683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6259" y="8364028"/>
            <a:ext cx="596767" cy="763861"/>
          </a:xfrm>
          <a:custGeom>
            <a:avLst/>
            <a:gdLst/>
            <a:ahLst/>
            <a:cxnLst/>
            <a:rect r="r" b="b" t="t" l="l"/>
            <a:pathLst>
              <a:path h="763861" w="596767">
                <a:moveTo>
                  <a:pt x="0" y="0"/>
                </a:moveTo>
                <a:lnTo>
                  <a:pt x="596767" y="0"/>
                </a:lnTo>
                <a:lnTo>
                  <a:pt x="596767" y="763862"/>
                </a:lnTo>
                <a:lnTo>
                  <a:pt x="0" y="7638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-162729" y="7989518"/>
            <a:ext cx="2596308" cy="3036617"/>
          </a:xfrm>
          <a:custGeom>
            <a:avLst/>
            <a:gdLst/>
            <a:ahLst/>
            <a:cxnLst/>
            <a:rect r="r" b="b" t="t" l="l"/>
            <a:pathLst>
              <a:path h="3036617" w="2596308">
                <a:moveTo>
                  <a:pt x="2596308" y="0"/>
                </a:moveTo>
                <a:lnTo>
                  <a:pt x="0" y="0"/>
                </a:lnTo>
                <a:lnTo>
                  <a:pt x="0" y="3036618"/>
                </a:lnTo>
                <a:lnTo>
                  <a:pt x="2596308" y="3036618"/>
                </a:lnTo>
                <a:lnTo>
                  <a:pt x="2596308" y="0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0">
            <a:off x="15329404" y="-1126487"/>
            <a:ext cx="3299681" cy="3859276"/>
          </a:xfrm>
          <a:custGeom>
            <a:avLst/>
            <a:gdLst/>
            <a:ahLst/>
            <a:cxnLst/>
            <a:rect r="r" b="b" t="t" l="l"/>
            <a:pathLst>
              <a:path h="3859276" w="3299681">
                <a:moveTo>
                  <a:pt x="0" y="3859277"/>
                </a:moveTo>
                <a:lnTo>
                  <a:pt x="3299681" y="3859277"/>
                </a:lnTo>
                <a:lnTo>
                  <a:pt x="3299681" y="0"/>
                </a:lnTo>
                <a:lnTo>
                  <a:pt x="0" y="0"/>
                </a:lnTo>
                <a:lnTo>
                  <a:pt x="0" y="3859277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817108" y="0"/>
            <a:ext cx="6467081" cy="10287000"/>
            <a:chOff x="0" y="0"/>
            <a:chExt cx="1703264" cy="2709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32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03264">
                  <a:moveTo>
                    <a:pt x="0" y="0"/>
                  </a:moveTo>
                  <a:lnTo>
                    <a:pt x="1703264" y="0"/>
                  </a:lnTo>
                  <a:lnTo>
                    <a:pt x="17032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8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703264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true" rot="0">
            <a:off x="15669278" y="-521808"/>
            <a:ext cx="3172423" cy="3710436"/>
          </a:xfrm>
          <a:custGeom>
            <a:avLst/>
            <a:gdLst/>
            <a:ahLst/>
            <a:cxnLst/>
            <a:rect r="r" b="b" t="t" l="l"/>
            <a:pathLst>
              <a:path h="3710436" w="3172423">
                <a:moveTo>
                  <a:pt x="0" y="3710436"/>
                </a:moveTo>
                <a:lnTo>
                  <a:pt x="3172422" y="3710436"/>
                </a:lnTo>
                <a:lnTo>
                  <a:pt x="3172422" y="0"/>
                </a:lnTo>
                <a:lnTo>
                  <a:pt x="0" y="0"/>
                </a:lnTo>
                <a:lnTo>
                  <a:pt x="0" y="3710436"/>
                </a:lnTo>
                <a:close/>
              </a:path>
            </a:pathLst>
          </a:custGeom>
          <a:blipFill>
            <a:blip r:embed="rId12">
              <a:alphaModFix amt="1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558698" y="3013032"/>
            <a:ext cx="4983902" cy="4554364"/>
            <a:chOff x="0" y="0"/>
            <a:chExt cx="1265331" cy="11562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5331" cy="1156279"/>
            </a:xfrm>
            <a:custGeom>
              <a:avLst/>
              <a:gdLst/>
              <a:ahLst/>
              <a:cxnLst/>
              <a:rect r="r" b="b" t="t" l="l"/>
              <a:pathLst>
                <a:path h="1156279" w="1265331">
                  <a:moveTo>
                    <a:pt x="0" y="0"/>
                  </a:moveTo>
                  <a:lnTo>
                    <a:pt x="1265331" y="0"/>
                  </a:lnTo>
                  <a:lnTo>
                    <a:pt x="1265331" y="1156279"/>
                  </a:lnTo>
                  <a:lnTo>
                    <a:pt x="0" y="1156279"/>
                  </a:lnTo>
                  <a:close/>
                </a:path>
              </a:pathLst>
            </a:custGeom>
            <a:blipFill>
              <a:blip r:embed="rId14"/>
              <a:stretch>
                <a:fillRect l="-71842" t="0" r="-71842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320054"/>
            <a:ext cx="9376176" cy="10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5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Diferenciadores claves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86120" y="2171188"/>
            <a:ext cx="6557880" cy="84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sz="236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Lo principal es la creacion de un plug-in con enfoque inclusivo para el E-commerce.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43298" y="6501250"/>
            <a:ext cx="6801521" cy="84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sz="236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La escalabilidad se vera en torno de como vaya evolucionando el futuro del proyecto.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43298" y="4263617"/>
            <a:ext cx="7535672" cy="126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sz="236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Por medio de los comandos de voz, se podrá navegar por la totalidad del E-commerce en cuestión.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02321" y="8494791"/>
            <a:ext cx="6952080" cy="84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sz="236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Si, es factible llevarlo al mudo real en un entorno laboral.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86120" y="1812176"/>
            <a:ext cx="2740018" cy="43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b="true" sz="23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Innovación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86120" y="6048177"/>
            <a:ext cx="2740018" cy="43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b="true" sz="23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Escalabilidad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43298" y="3882448"/>
            <a:ext cx="2740018" cy="43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b="true" sz="23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Comandos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02321" y="8008282"/>
            <a:ext cx="2719753" cy="43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  <a:r>
              <a:rPr lang="en-US" b="true" sz="23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Factibilidad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6249" t="0" r="-624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914400"/>
            <a:ext cx="19560645" cy="10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8"/>
              </a:lnSpc>
            </a:pPr>
            <a:r>
              <a:rPr lang="en-US" sz="589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QR</a:t>
            </a:r>
            <a:r>
              <a:rPr lang="en-US" sz="589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Pagina/GitHub Documentación/GitHub codigo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718" y="1820767"/>
            <a:ext cx="5171556" cy="517155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41312" y="1735041"/>
            <a:ext cx="5343006" cy="534300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50758" y="1805180"/>
            <a:ext cx="5202728" cy="52027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9626" y="4087534"/>
            <a:ext cx="13848374" cy="234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sz="6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esultados obtenidos</a:t>
            </a:r>
          </a:p>
          <a:p>
            <a:pPr algn="l" marL="0" indent="0" lvl="0">
              <a:lnSpc>
                <a:spcPts val="937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68835" y="4003098"/>
            <a:ext cx="19225670" cy="353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</a:t>
            </a:r>
            <a:r>
              <a:rPr lang="en-US" b="true" sz="66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stáculos presentados durante el desarrollo</a:t>
            </a:r>
          </a:p>
          <a:p>
            <a:pPr algn="ctr" marL="0" indent="0" lvl="0">
              <a:lnSpc>
                <a:spcPts val="937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6249" t="0" r="-624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2983678"/>
            <a:ext cx="18590220" cy="24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04"/>
              </a:lnSpc>
              <a:spcBef>
                <a:spcPct val="0"/>
              </a:spcBef>
            </a:pPr>
            <a:r>
              <a:rPr lang="en-US" b="true" sz="1443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7223" y="4113796"/>
            <a:ext cx="14410765" cy="234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PREGUNTAS</a:t>
            </a:r>
            <a:r>
              <a:rPr lang="en-US" sz="6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LA COMISIÓN</a:t>
            </a:r>
          </a:p>
          <a:p>
            <a:pPr algn="just" marL="0" indent="0" lvl="0">
              <a:lnSpc>
                <a:spcPts val="937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05738" y="708387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1045" y="-727364"/>
            <a:ext cx="3718268" cy="4348852"/>
          </a:xfrm>
          <a:custGeom>
            <a:avLst/>
            <a:gdLst/>
            <a:ahLst/>
            <a:cxnLst/>
            <a:rect r="r" b="b" t="t" l="l"/>
            <a:pathLst>
              <a:path h="4348852" w="3718268">
                <a:moveTo>
                  <a:pt x="0" y="0"/>
                </a:moveTo>
                <a:lnTo>
                  <a:pt x="3718268" y="0"/>
                </a:lnTo>
                <a:lnTo>
                  <a:pt x="3718268" y="4348852"/>
                </a:lnTo>
                <a:lnTo>
                  <a:pt x="0" y="434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DAG2hz3hdyE</dc:identifier>
  <dcterms:modified xsi:type="dcterms:W3CDTF">2011-08-01T06:04:30Z</dcterms:modified>
  <cp:revision>1</cp:revision>
  <dc:title>Herramientas para un E-commerce inclusivo</dc:title>
</cp:coreProperties>
</file>